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91" r:id="rId2"/>
    <p:sldId id="290" r:id="rId3"/>
    <p:sldId id="303" r:id="rId4"/>
    <p:sldId id="298" r:id="rId5"/>
    <p:sldId id="299" r:id="rId6"/>
    <p:sldId id="293" r:id="rId7"/>
    <p:sldId id="281" r:id="rId8"/>
    <p:sldId id="294" r:id="rId9"/>
    <p:sldId id="301" r:id="rId10"/>
    <p:sldId id="304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C5BFB-07DE-2969-7D8E-545BEEACB7B4}" v="686" dt="2025-12-09T08:09:31.738"/>
    <p1510:client id="{87573ADD-EDA1-B875-6A3D-DC81E870C097}" v="816" dt="2025-12-09T08:46:30.008"/>
    <p1510:client id="{CB6F9E38-03CF-692C-4A68-E4379E81573B}" v="161" dt="2025-12-09T11:54:55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EEA5-55FB-EBEF-1863-B3849F2F4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A73173D-CEAE-E887-99D9-3608FB4B3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CAC7AE55-C3B2-FD33-4981-E05F1C9071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ED197CB-FEE3-B238-A3FB-06DFC0F74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19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EB940-3004-7C86-B08F-F99ED0A52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FB26EBC-0548-32D9-8538-001549D05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53A4AD8B-863B-951D-629C-28B3158A5A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352EE072-ED93-52CD-C840-C7A3CB5BD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38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74C6-FB89-EDA3-6417-92CF6B45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9B7DCE3-A5F2-E0C2-C7E0-3F393944E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80D2538-523D-57B1-5767-CC8A873B6C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7D3C42F-13DB-EFFA-949A-BA18DF695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51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8810-A04E-69B8-CE95-EBF85A378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F6A2B814-B80D-1597-944C-D93442B45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616D3A0D-CC9C-511D-259C-1DDE8D0241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3CFB113E-7E84-7041-2A58-4E7938431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14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5C4A-0BAF-CD7C-BADA-C53B6760D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6A5C5F3-A606-7F8E-2D4C-4EAE8E815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519A74F3-06FE-2E7B-E5EE-ECA3AD6995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3640A40-A38D-9562-D96B-42D22F688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5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36758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 idx="4294967295"/>
          </p:nvPr>
        </p:nvSpPr>
        <p:spPr>
          <a:xfrm>
            <a:off x="0" y="-527050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2741" y="1126560"/>
            <a:ext cx="7281536" cy="5425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ID – </a:t>
            </a:r>
            <a:r>
              <a:rPr lang="en-US" sz="2000">
                <a:latin typeface="Arial"/>
                <a:ea typeface="ＭＳ Ｐゴシック"/>
                <a:cs typeface="Arial"/>
              </a:rPr>
              <a:t>25222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Title- </a:t>
            </a:r>
            <a:r>
              <a:rPr lang="en-US" sz="2400">
                <a:solidFill>
                  <a:srgbClr val="212529"/>
                </a:solidFill>
                <a:latin typeface="Arial"/>
                <a:ea typeface="Calibri"/>
                <a:cs typeface="Calibri"/>
              </a:rPr>
              <a:t>Digital Twin for CO₂ </a:t>
            </a:r>
          </a:p>
          <a:p>
            <a:pPr algn="just">
              <a:lnSpc>
                <a:spcPct val="200000"/>
              </a:lnSpc>
            </a:pPr>
            <a:r>
              <a:rPr lang="en-US" sz="2400">
                <a:solidFill>
                  <a:srgbClr val="212529"/>
                </a:solidFill>
                <a:latin typeface="Arial"/>
                <a:ea typeface="Calibri"/>
                <a:cs typeface="Calibri"/>
              </a:rPr>
              <a:t>Capture in Urban Settings</a:t>
            </a:r>
            <a:endParaRPr lang="en-US" sz="2400">
              <a:latin typeface="Arial"/>
              <a:cs typeface="Calibri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Theme- </a:t>
            </a:r>
            <a:r>
              <a:rPr lang="en-US" sz="2400">
                <a:latin typeface="Arial"/>
                <a:ea typeface="ＭＳ Ｐゴシック"/>
                <a:cs typeface="Arial"/>
              </a:rPr>
              <a:t>Clean &amp; Green Technology</a:t>
            </a:r>
            <a:r>
              <a:rPr lang="en-US" sz="2000">
                <a:latin typeface="Arial"/>
                <a:ea typeface="ＭＳ Ｐゴシック"/>
                <a:cs typeface="Arial"/>
              </a:rPr>
              <a:t> 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PS Category- </a:t>
            </a:r>
            <a:r>
              <a:rPr lang="en-US" sz="2400">
                <a:latin typeface="Arial"/>
                <a:ea typeface="ＭＳ Ｐゴシック"/>
                <a:cs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ID- </a:t>
            </a:r>
            <a:r>
              <a:rPr lang="en-US" sz="2400">
                <a:latin typeface="Arial"/>
                <a:ea typeface="ＭＳ Ｐゴシック"/>
                <a:cs typeface="Arial"/>
              </a:rPr>
              <a:t>114634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Name (Registered on portal)- </a:t>
            </a:r>
            <a:r>
              <a:rPr lang="en-US" sz="2400" err="1">
                <a:latin typeface="Arial"/>
                <a:ea typeface="ＭＳ Ｐゴシック"/>
                <a:cs typeface="Arial"/>
              </a:rPr>
              <a:t>Javachip</a:t>
            </a:r>
            <a:r>
              <a:rPr lang="en-US" sz="2400">
                <a:latin typeface="Arial"/>
                <a:ea typeface="ＭＳ Ｐゴシック"/>
                <a:cs typeface="Arial"/>
              </a:rPr>
              <a:t>$</a:t>
            </a:r>
            <a:endParaRPr lang="en-IN" sz="2400">
              <a:latin typeface="Arial"/>
              <a:ea typeface="ＭＳ Ｐゴシック"/>
              <a:cs typeface="Arial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Proposed Solution</a:t>
            </a:r>
            <a:endParaRPr lang="en-US" dirty="0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11682" y="1500256"/>
            <a:ext cx="926004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</a:rPr>
              <a:t>Our solution is a 3D digital twin that maps CO₂ across the city using real-time sensors, predicts hotspot formation, and allows planners to test interventions like vertical gardens or biofilters digitally.</a:t>
            </a:r>
            <a:endParaRPr lang="en-US" dirty="0">
              <a:cs typeface="Calibri" pitchFamily="34" charset="0"/>
            </a:endParaRP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</a:rPr>
              <a:t> We integrate environmental layers like NDVI, LULC, and albedo to generate realistic outcomes.</a:t>
            </a:r>
            <a:br>
              <a:rPr lang="en-US" sz="2800" dirty="0">
                <a:latin typeface="Calibri"/>
                <a:ea typeface="Calibri"/>
                <a:cs typeface="Calibri"/>
              </a:rPr>
            </a:br>
            <a:r>
              <a:rPr lang="en-US" sz="2800" dirty="0">
                <a:latin typeface="Calibri"/>
                <a:ea typeface="Calibri"/>
                <a:cs typeface="Calibri"/>
              </a:rPr>
              <a:t> The system provides before–after comparisons and a simple decision-support dashboard, making urban CO₂ planning faster, smarter, and evidence-based.</a:t>
            </a:r>
            <a:endParaRPr lang="en-US"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657D6924-7DBB-F05A-5DA0-DDDB3F489D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65007" cy="92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Javachip</a:t>
            </a:r>
            <a:r>
              <a:rPr lang="en-US">
                <a:ea typeface="Calibri"/>
                <a:cs typeface="Calibri"/>
              </a:rPr>
              <a:t>$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17F07-0262-57A3-849F-4073EF78F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815D37-4C11-0DA1-6186-CB0D8BEEE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05CE75B4-9DC2-8278-7FF9-748AF032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Flow Chart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FC8BC-D375-BE3A-4468-2E8A6530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317092-1664-0D4D-C825-EA1C0700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2299504B-2075-B15D-2C0B-DC39A7F41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860D6111-9192-F7F1-802F-75AEC2D022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65007" cy="92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Javachip</a:t>
            </a:r>
            <a:r>
              <a:rPr lang="en-US">
                <a:ea typeface="Calibri"/>
                <a:cs typeface="Calibri"/>
              </a:rPr>
              <a:t>$</a:t>
            </a:r>
          </a:p>
        </p:txBody>
      </p:sp>
      <p:pic>
        <p:nvPicPr>
          <p:cNvPr id="3" name="Picture 2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C5C08E42-95CF-27E4-22D3-98AB25A04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418" y="1074349"/>
            <a:ext cx="8970818" cy="527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42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2A801-BEBA-D588-9C93-8963A5B9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0E7B7A-50EA-4718-0CAC-5E2DE4DEA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3894AA2-F216-8A7F-F794-A89940C6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17" y="532158"/>
            <a:ext cx="10972800" cy="1143000"/>
          </a:xfrm>
        </p:spPr>
        <p:txBody>
          <a:bodyPr/>
          <a:lstStyle/>
          <a:p>
            <a:r>
              <a:rPr lang="en-US" sz="4000" b="1">
                <a:latin typeface="Calibri"/>
                <a:ea typeface="Calibri"/>
                <a:cs typeface="Calibri"/>
              </a:rPr>
              <a:t>User Experience </a:t>
            </a:r>
          </a:p>
          <a:p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5B3C5818-E84E-4A48-1333-5DCB10E87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13" y="1771653"/>
            <a:ext cx="9385300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Simple, clean dashboard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Intuitive intervention tools</a:t>
            </a:r>
            <a:endParaRPr lang="en-US" sz="2400" dirty="0">
              <a:ea typeface="Calibri"/>
              <a:cs typeface="Calibri" pitchFamily="34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Clear color-coded hotspot visuals</a:t>
            </a:r>
            <a:endParaRPr lang="en-US" sz="2400" dirty="0">
              <a:cs typeface="Calibri" pitchFamily="34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Easy navigation over the city</a:t>
            </a:r>
            <a:endParaRPr lang="en-US" sz="2400" dirty="0">
              <a:cs typeface="Calibri" pitchFamily="34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Step-by-step workflow (View → Simulate → Compare → Decide)</a:t>
            </a:r>
            <a:endParaRPr lang="en-US" sz="2800" dirty="0"/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Minimal cognitive load for non-technical users</a:t>
            </a:r>
            <a:endParaRPr lang="en-US" sz="2400" dirty="0">
              <a:cs typeface="Calibri" pitchFamily="34" charset="0"/>
            </a:endParaRPr>
          </a:p>
          <a:p>
            <a:pPr marL="571500" indent="-571500" algn="just">
              <a:buFont typeface="Arial"/>
              <a:buChar char="•"/>
            </a:pPr>
            <a:endParaRPr lang="en-US" sz="40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59E12-579F-8732-C118-ABC8AA88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F932ED-523E-02E3-F45F-647BDF43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236180D9-0D2B-20FE-CC97-3D8E9A708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220C477-41D2-362F-9100-71D1ECBAAC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65007" cy="92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Javachip</a:t>
            </a:r>
            <a:r>
              <a:rPr lang="en-US">
                <a:ea typeface="Calibri"/>
                <a:cs typeface="Calibri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18988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3C56-9A12-02D9-9E47-F9CF96F4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7A4C16-457F-68F3-3963-A09E49A45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5683045C-70BD-9199-5E3F-A8D6DA20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ea typeface="ＭＳ Ｐゴシック"/>
                <a:cs typeface="Times New Roman"/>
              </a:rPr>
              <a:t> Market Readiness</a:t>
            </a:r>
            <a:endParaRPr lang="en-US" sz="3600" b="1"/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1D97425D-70D0-3813-910C-9A35FD03E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383" y="1067631"/>
            <a:ext cx="93853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200" b="1" dirty="0">
                <a:latin typeface="Calibri"/>
                <a:ea typeface="Calibri"/>
                <a:cs typeface="Calibri"/>
              </a:rPr>
              <a:t>Our solution is immediately useful for:</a:t>
            </a:r>
            <a:endParaRPr lang="en-US" sz="22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Smart City planning</a:t>
            </a:r>
            <a:endParaRPr lang="en-US" sz="20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Pollution control boards</a:t>
            </a:r>
            <a:endParaRPr lang="en-US" sz="20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Urban development authorities</a:t>
            </a:r>
            <a:endParaRPr lang="en-US" sz="20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Climate policy teams</a:t>
            </a:r>
            <a:endParaRPr lang="en-US" sz="2000" dirty="0">
              <a:cs typeface="Calibri"/>
            </a:endParaRPr>
          </a:p>
          <a:p>
            <a:pPr marL="457200" indent="-457200" algn="just">
              <a:buAutoNum type="arabicPeriod"/>
            </a:pPr>
            <a:r>
              <a:rPr lang="en-US" sz="2200" b="1" dirty="0">
                <a:latin typeface="Calibri"/>
                <a:ea typeface="Calibri"/>
                <a:cs typeface="Calibri"/>
              </a:rPr>
              <a:t>Why it is market-ready:</a:t>
            </a:r>
            <a:endParaRPr lang="en-US" sz="22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Uses real environmental data (CPCB,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OpenAQ</a:t>
            </a:r>
            <a:r>
              <a:rPr lang="en-US" sz="2000" dirty="0">
                <a:latin typeface="Calibri"/>
                <a:ea typeface="Calibri"/>
                <a:cs typeface="Calibri"/>
              </a:rPr>
              <a:t>)</a:t>
            </a: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Can integrate with existing government platforms</a:t>
            </a:r>
            <a:endParaRPr lang="en-US" sz="20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Scales easily to any city</a:t>
            </a:r>
            <a:endParaRPr lang="en-US" sz="20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Provides measurable benefits like cost-saving and better intervention placement</a:t>
            </a:r>
            <a:endParaRPr lang="en-US" sz="2000" dirty="0">
              <a:cs typeface="Calibri"/>
            </a:endParaRPr>
          </a:p>
          <a:p>
            <a:pPr marL="457200" indent="-457200" algn="just">
              <a:buAutoNum type="arabicPeriod"/>
            </a:pPr>
            <a:r>
              <a:rPr lang="en-US" sz="2200" b="1" dirty="0">
                <a:latin typeface="Calibri"/>
                <a:ea typeface="Calibri"/>
                <a:cs typeface="Calibri"/>
              </a:rPr>
              <a:t>Impact:</a:t>
            </a:r>
            <a:endParaRPr lang="en-US" sz="22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Reduces trial-and-error in urban planning</a:t>
            </a:r>
            <a:endParaRPr lang="en-US" sz="20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Improves CO₂ reduction strategies</a:t>
            </a:r>
            <a:endParaRPr lang="en-US" sz="2000" dirty="0">
              <a:cs typeface="Calibri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Enables data-driven decision-making</a:t>
            </a:r>
            <a:endParaRPr lang="en-US" sz="2000" dirty="0">
              <a:cs typeface="Calibri"/>
            </a:endParaRPr>
          </a:p>
          <a:p>
            <a:pPr marL="457200" indent="-457200" algn="just">
              <a:buAutoNum type="arabicPeriod"/>
            </a:pPr>
            <a:endParaRPr lang="en-US" sz="200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679D2-AD64-A1B9-3FEC-A327FB86B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0ECE2C-058D-0158-EEEE-5BB31C91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D2E47A80-0404-6B2C-3344-E347E9F27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3DC66E85-C61F-9E0E-DC23-29CC2B2841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65007" cy="92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Javachip</a:t>
            </a:r>
            <a:r>
              <a:rPr lang="en-US">
                <a:ea typeface="Calibri"/>
                <a:cs typeface="Calibri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410458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7187" y="84897"/>
            <a:ext cx="10972800" cy="1143000"/>
          </a:xfrm>
        </p:spPr>
        <p:txBody>
          <a:bodyPr/>
          <a:lstStyle/>
          <a:p>
            <a:r>
              <a:rPr lang="en-US" b="1">
                <a:ea typeface="ＭＳ Ｐゴシック"/>
                <a:cs typeface="Times New Roman"/>
              </a:rPr>
              <a:t> Scalability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3035" y="1688827"/>
            <a:ext cx="10983843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US" sz="20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22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. Modular Architecture :</a:t>
            </a:r>
            <a:r>
              <a:rPr lang="en-US" sz="20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000" b="1">
              <a:solidFill>
                <a:prstClr val="black"/>
              </a:solidFill>
              <a:cs typeface="Calibri" pitchFamily="34" charset="0"/>
            </a:endParaRPr>
          </a:p>
          <a:p>
            <a:pPr algn="just">
              <a:defRPr/>
            </a:pPr>
            <a:r>
              <a:rPr lang="en-US" sz="2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Each component works independently, hence new modules or datasets can be added easily without changing the core system.</a:t>
            </a:r>
            <a:endParaRPr lang="en-US" sz="2000">
              <a:solidFill>
                <a:prstClr val="black"/>
              </a:solidFill>
              <a:cs typeface="Calibri" pitchFamily="34" charset="0"/>
            </a:endParaRPr>
          </a:p>
          <a:p>
            <a:pPr algn="just">
              <a:defRPr/>
            </a:pPr>
            <a:r>
              <a:rPr lang="en-US" sz="2200" b="1"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2. </a:t>
            </a:r>
            <a:r>
              <a:rPr lang="en-US" sz="22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Lightweight Computation :</a:t>
            </a:r>
          </a:p>
          <a:p>
            <a:pPr algn="just">
              <a:defRPr/>
            </a:pPr>
            <a:r>
              <a:rPr lang="en-US" sz="2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Uses gaussian plum models instead of heavy CFD, ensuring fast performance even when scaling to large city grids.</a:t>
            </a:r>
          </a:p>
          <a:p>
            <a:pPr algn="just">
              <a:defRPr/>
            </a:pPr>
            <a:r>
              <a:rPr lang="en-US" sz="22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3. Tiled 3D Rendering (Cesium) :</a:t>
            </a:r>
          </a:p>
          <a:p>
            <a:pPr algn="just">
              <a:defRPr/>
            </a:pPr>
            <a:r>
              <a:rPr lang="en-US" sz="2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Loads only the visible area of the city, preventing lag and reduces memory load during large-scale simulations.</a:t>
            </a:r>
            <a:endParaRPr lang="en-US" sz="2000">
              <a:solidFill>
                <a:prstClr val="black"/>
              </a:solidFill>
              <a:ea typeface="Calibri"/>
              <a:cs typeface="Calibri"/>
            </a:endParaRPr>
          </a:p>
          <a:p>
            <a:pPr algn="just">
              <a:defRPr/>
            </a:pPr>
            <a:r>
              <a:rPr lang="en-US" sz="2200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4. Plug-and-Play Inputs :</a:t>
            </a:r>
          </a:p>
          <a:p>
            <a:pPr algn="just">
              <a:defRPr/>
            </a:pPr>
            <a:r>
              <a:rPr lang="en-US" sz="2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Works with different sensor networks (CPCB / DPCC / local sensors) and can integrate satellite layers (NDVI, LULC, albedo) of any city.</a:t>
            </a:r>
            <a:endParaRPr lang="en-US" sz="2000">
              <a:solidFill>
                <a:prstClr val="black"/>
              </a:solidFill>
              <a:cs typeface="Calibri"/>
            </a:endParaRPr>
          </a:p>
          <a:p>
            <a:pPr algn="just">
              <a:defRPr/>
            </a:pPr>
            <a:endParaRPr lang="en-US" sz="2000" b="1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3CC458D-00A7-FCCC-6F89-4C9D2B7703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65007" cy="92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Javachip</a:t>
            </a:r>
            <a:r>
              <a:rPr lang="en-US">
                <a:ea typeface="Calibri"/>
                <a:cs typeface="Calibri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ea typeface="ＭＳ Ｐゴシック"/>
                <a:cs typeface="Times New Roman"/>
              </a:rPr>
              <a:t>Feasibility</a:t>
            </a:r>
            <a:endParaRPr lang="en-US" sz="3600" b="1" dirty="0"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80163" y="1438619"/>
            <a:ext cx="10981152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 dirty="0">
                <a:latin typeface="Calibri"/>
                <a:ea typeface="Calibri"/>
                <a:cs typeface="Calibri"/>
              </a:rPr>
              <a:t>1. Technical Feasibility</a:t>
            </a:r>
            <a:endParaRPr lang="en-US" sz="2200" dirty="0"/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Real-time CO₂ simulation and hotspot visualization are fully achievable with lightweight models and open data.</a:t>
            </a:r>
            <a:endParaRPr lang="en-US" sz="2000" dirty="0">
              <a:cs typeface="Calibri"/>
            </a:endParaRPr>
          </a:p>
          <a:p>
            <a:r>
              <a:rPr lang="en-US" sz="2200" b="1" dirty="0">
                <a:latin typeface="Calibri"/>
                <a:ea typeface="ＭＳ Ｐゴシック"/>
                <a:cs typeface="Calibri"/>
              </a:rPr>
              <a:t>2. Operational Feasibility</a:t>
            </a:r>
            <a:endParaRPr lang="en-US" sz="2200" dirty="0">
              <a:latin typeface="Calibri"/>
              <a:ea typeface="ＭＳ Ｐゴシック"/>
              <a:cs typeface="Calibri"/>
            </a:endParaRP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supports instant reporting for efficient use.</a:t>
            </a:r>
            <a:endParaRPr lang="en-US" sz="2000" dirty="0">
              <a:cs typeface="Calibri"/>
            </a:endParaRPr>
          </a:p>
          <a:p>
            <a:r>
              <a:rPr lang="en-US" sz="2200" b="1" dirty="0">
                <a:latin typeface="Calibri"/>
                <a:ea typeface="ＭＳ Ｐゴシック"/>
                <a:cs typeface="Calibri"/>
              </a:rPr>
              <a:t>3. Scalability Feasibility</a:t>
            </a:r>
            <a:endParaRPr lang="en-US" sz="2200" dirty="0">
              <a:latin typeface="Calibri"/>
              <a:ea typeface="ＭＳ Ｐゴシック"/>
              <a:cs typeface="Calibri"/>
            </a:endParaRP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The architecture extends to ML forecasting, and city-wide digital twin deployment.</a:t>
            </a:r>
            <a:endParaRPr lang="en-US" sz="2000" dirty="0">
              <a:cs typeface="Calibri"/>
            </a:endParaRPr>
          </a:p>
          <a:p>
            <a:r>
              <a:rPr lang="en-US" sz="2200" b="1" dirty="0">
                <a:latin typeface="Calibri"/>
                <a:ea typeface="ＭＳ Ｐゴシック"/>
                <a:cs typeface="Calibri"/>
              </a:rPr>
              <a:t>4. Economic Feasibility</a:t>
            </a:r>
            <a:endParaRPr lang="en-US" sz="2200" dirty="0">
              <a:latin typeface="Calibri"/>
              <a:ea typeface="ＭＳ Ｐゴシック"/>
              <a:cs typeface="Calibri"/>
            </a:endParaRP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Low-cost, open-source implementation minimizes expenses and reduces real-world testing costs for governments.</a:t>
            </a:r>
            <a:endParaRPr lang="en-US" sz="2000" dirty="0">
              <a:cs typeface="Calibri"/>
            </a:endParaRPr>
          </a:p>
          <a:p>
            <a:r>
              <a:rPr lang="en-US" sz="2200" b="1" dirty="0">
                <a:latin typeface="Calibri"/>
                <a:ea typeface="ＭＳ Ｐゴシック"/>
                <a:cs typeface="Calibri"/>
              </a:rPr>
              <a:t>5. User Feasibility</a:t>
            </a:r>
            <a:endParaRPr lang="en-US" sz="2200" dirty="0">
              <a:latin typeface="Calibri"/>
              <a:ea typeface="ＭＳ Ｐゴシック"/>
              <a:cs typeface="Calibri"/>
            </a:endParaRP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Simple dashboards and clear visual insights ensure easy adoption by planners and municipal authorities.</a:t>
            </a:r>
            <a:endParaRPr lang="en-US" sz="2000" dirty="0">
              <a:cs typeface="Calibri"/>
            </a:endParaRPr>
          </a:p>
          <a:p>
            <a:endParaRPr lang="en-US" sz="2200">
              <a:solidFill>
                <a:srgbClr val="1F497D"/>
              </a:solidFill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endParaRPr lang="en-US" sz="2200" b="1" u="sng">
              <a:solidFill>
                <a:srgbClr val="1F497D"/>
              </a:solidFill>
              <a:latin typeface="Arial"/>
              <a:ea typeface="ＭＳ Ｐゴシック"/>
              <a:cs typeface="Arial"/>
            </a:endParaRPr>
          </a:p>
          <a:p>
            <a:pPr marL="514350" indent="-514350">
              <a:buAutoNum type="arabicPeriod"/>
            </a:pPr>
            <a:endParaRPr lang="en-US" sz="2200" b="1" u="sng">
              <a:solidFill>
                <a:srgbClr val="1F497D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65007" cy="92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Javachip</a:t>
            </a:r>
            <a:r>
              <a:rPr lang="en-US">
                <a:ea typeface="Calibri"/>
                <a:cs typeface="Calibri"/>
              </a:rPr>
              <a:t>$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545535" y="250548"/>
            <a:ext cx="8280954" cy="1076741"/>
          </a:xfrm>
        </p:spPr>
        <p:txBody>
          <a:bodyPr/>
          <a:lstStyle/>
          <a:p>
            <a:r>
              <a:rPr lang="en-US" sz="3600" b="1">
                <a:ea typeface="ＭＳ Ｐゴシック"/>
                <a:cs typeface="Times New Roman"/>
              </a:rPr>
              <a:t>Why We Are Better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AC4C-9BC7-F0CA-226C-540D1C5B8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820924"/>
              </p:ext>
            </p:extLst>
          </p:nvPr>
        </p:nvGraphicFramePr>
        <p:xfrm>
          <a:off x="2584173" y="1499152"/>
          <a:ext cx="6618766" cy="457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348">
                  <a:extLst>
                    <a:ext uri="{9D8B030D-6E8A-4147-A177-3AD203B41FA5}">
                      <a16:colId xmlns:a16="http://schemas.microsoft.com/office/drawing/2014/main" val="397910976"/>
                    </a:ext>
                  </a:extLst>
                </a:gridCol>
                <a:gridCol w="3402418">
                  <a:extLst>
                    <a:ext uri="{9D8B030D-6E8A-4147-A177-3AD203B41FA5}">
                      <a16:colId xmlns:a16="http://schemas.microsoft.com/office/drawing/2014/main" val="3876565287"/>
                    </a:ext>
                  </a:extLst>
                </a:gridCol>
              </a:tblGrid>
              <a:tr h="5722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Without Us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With Us</a:t>
                      </a:r>
                      <a:endParaRPr 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003692"/>
                  </a:ext>
                </a:extLst>
              </a:tr>
              <a:tr h="572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Only sensor values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City-wide CO₂ modeling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552857"/>
                  </a:ext>
                </a:extLst>
              </a:tr>
              <a:tr h="572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Manual city setup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Plug-and-play new cities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574868"/>
                  </a:ext>
                </a:extLst>
              </a:tr>
              <a:tr h="572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Static readings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Real-time dynamic updates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376466"/>
                  </a:ext>
                </a:extLst>
              </a:tr>
              <a:tr h="572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No simulations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Full CO₂ spread simulations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973551"/>
                  </a:ext>
                </a:extLst>
              </a:tr>
              <a:tr h="572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Heavy full-map rendering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Fast tiled rendering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74527"/>
                  </a:ext>
                </a:extLst>
              </a:tr>
              <a:tr h="572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No intervention testing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Test capture &amp; policy impacts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319001"/>
                  </a:ext>
                </a:extLst>
              </a:tr>
              <a:tr h="5722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No forecasting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Future hotspot prediction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396188"/>
                  </a:ext>
                </a:extLst>
              </a:tr>
            </a:tbl>
          </a:graphicData>
        </a:graphic>
      </p:graphicFrame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7B3CAA21-5EE5-54C6-E7AE-745F968A8D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65007" cy="92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Javachip</a:t>
            </a:r>
            <a:r>
              <a:rPr lang="en-US">
                <a:ea typeface="Calibri"/>
                <a:cs typeface="Calibri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C73E7-1EA1-DE97-16C7-05D5B2B5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E75D1E-BF0E-0171-0B79-634E2CF2F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9989F08D-2F86-D517-435F-6AA246A7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87" y="678294"/>
            <a:ext cx="11035430" cy="1028179"/>
          </a:xfrm>
        </p:spPr>
        <p:txBody>
          <a:bodyPr/>
          <a:lstStyle/>
          <a:p>
            <a:r>
              <a:rPr lang="en-US" sz="4000" b="1">
                <a:latin typeface="Calibri"/>
                <a:ea typeface="Calibri"/>
                <a:cs typeface="Calibri"/>
              </a:rPr>
              <a:t>Future Scope</a:t>
            </a:r>
          </a:p>
          <a:p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810C593A-FDB4-6BE5-731B-FD90E39D4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170" y="1583763"/>
            <a:ext cx="8779876" cy="4534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endParaRPr lang="en-US" sz="2400"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ML-based hotspot prediction</a:t>
            </a:r>
            <a:endParaRPr lang="en-US" dirty="0"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Full CFD–hybrid modeling for higher precision</a:t>
            </a:r>
            <a:endParaRPr lang="en-US" dirty="0">
              <a:cs typeface="Calibri" pitchFamily="34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Industry-level emission estimation module</a:t>
            </a:r>
            <a:endParaRPr lang="en-US" dirty="0">
              <a:cs typeface="Calibri" pitchFamily="34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Public mobile app for awareness</a:t>
            </a:r>
            <a:endParaRPr lang="en-US" dirty="0">
              <a:cs typeface="Calibri" pitchFamily="34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City-wide recommendation engine for optimal intervention placement</a:t>
            </a:r>
            <a:endParaRPr lang="en-US" dirty="0">
              <a:cs typeface="Calibri" pitchFamily="34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Integration with traffic cameras and IoT devices</a:t>
            </a:r>
            <a:endParaRPr lang="en-US" dirty="0">
              <a:cs typeface="Calibri" pitchFamily="34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the 3D map will be upgraded to display real-time CO₂ hotspots, dispersion layers, and interactive interventions directly within the digital twin.</a:t>
            </a:r>
          </a:p>
          <a:p>
            <a:pPr marL="342900" indent="-342900" algn="just">
              <a:buFont typeface="Arial"/>
              <a:buChar char="•"/>
            </a:pP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913F2-546D-855E-670B-276C71B2E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9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099DD4-549A-EDDA-12D5-637F1B167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8658804D-66A0-286A-4B24-316FEEDC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5A0B286-03B0-62FE-57F2-3CE3E48771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65007" cy="92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Javachip</a:t>
            </a:r>
            <a:r>
              <a:rPr lang="en-US">
                <a:ea typeface="Calibri"/>
                <a:cs typeface="Calibri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620900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7B8B-E1DA-42D3-B689-43785938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693CBC8-0273-CEA7-03B7-F3B2E3015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B83D17F1-4AE9-0BE7-A691-E7E74B0C4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31" y="2922541"/>
            <a:ext cx="11035430" cy="1028179"/>
          </a:xfrm>
        </p:spPr>
        <p:txBody>
          <a:bodyPr/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Thank You!</a:t>
            </a:r>
            <a:endParaRPr lang="en-US" dirty="0"/>
          </a:p>
          <a:p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B80B9-829F-0DF7-8852-B0F85C07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10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DE9F68-8968-2F75-5982-68643215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F46891EE-1EB8-ABE9-8F43-64560DFF0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4FDEAEF-ED8A-BF7C-40A1-753B5F952EA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65007" cy="9221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ea typeface="Calibri"/>
                <a:cs typeface="Calibri"/>
              </a:rPr>
              <a:t>Javachip</a:t>
            </a:r>
            <a:r>
              <a:rPr lang="en-US">
                <a:ea typeface="Calibri"/>
                <a:cs typeface="Calibri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876900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Widescreen</PresentationFormat>
  <Paragraphs>120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Proposed Solution</vt:lpstr>
      <vt:lpstr>Flow Chart</vt:lpstr>
      <vt:lpstr>User Experience  </vt:lpstr>
      <vt:lpstr> Market Readiness</vt:lpstr>
      <vt:lpstr> Scalability</vt:lpstr>
      <vt:lpstr>Feasibility</vt:lpstr>
      <vt:lpstr>Why We Are Better </vt:lpstr>
      <vt:lpstr>Future Scope </vt:lpstr>
      <vt:lpstr>Thank You! 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khush purohit</cp:lastModifiedBy>
  <cp:revision>67</cp:revision>
  <dcterms:created xsi:type="dcterms:W3CDTF">2013-12-12T18:46:50Z</dcterms:created>
  <dcterms:modified xsi:type="dcterms:W3CDTF">2025-12-09T11:57:23Z</dcterms:modified>
  <cp:category/>
</cp:coreProperties>
</file>